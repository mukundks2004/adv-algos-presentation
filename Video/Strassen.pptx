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85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422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IMAGE: Photo of Volker Strassen at his Knuth Prize lecture (David Eppstein, CC BY-SA 3.0, Wikimedia Commons: File:Strassen_Knuth_Prize_lecture.jpg).</a:t>
            </a:r>
          </a:p>
          <a:p>
            <a:r>
              <a:t>Open with the hook: everyone assumed you needed n³ multiplications until 1969.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IMAGE: left, native table showing the n³ triple-loop count; right, text on where matrix multiplication is used (graphics, ML, solving linear systems, graph algorithms).</a:t>
            </a:r>
          </a:p>
          <a:p>
            <a:r>
              <a:t>Say: C[i,j] = sum over k of A[i,k]*B[k,j]. n² outputs, each is n multiplies -&gt; n³.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IMAGE: native shapes - three 2x2 block grids (A, B, C) drawn in PowerPoint with the blocks colour-coded: A11 blue, A12 orange, A21 green, A22 purple (same for B and C).</a:t>
            </a:r>
          </a:p>
          <a:p>
            <a:r>
              <a:t>Split each matrix into four n/2 x n/2 blocks. The obvious recursion needs 8 block multiplications -&gt; T(n)=8T(n/2)+O(n^2) = O(n^3). No 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IMAGE: Strassen_algorithm.svg (Cyp, CC BY-SA 3.0, Wikimedia Commons). Left column = the 8 products of the naive method, columns M1..M7 = Strassen's seven; summing the coloured columns reproduces the left column.</a:t>
            </a:r>
          </a:p>
          <a:p>
            <a:r>
              <a:t>Read the seven products, then the four recombinations. Cue the manim animation to show WHY the combos cancel.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IMAGE: native table of the recursion tree level by level (no external image).</a:t>
            </a:r>
          </a:p>
          <a:p>
            <a:r>
              <a:t>Level k has 7^k subproblems each of size n/2^k. Multiplication work only appears at the leaves: 7^(log2 n) = n^(log2 7). Addition work per level is 7^k (n/2^k)² = n² (7/4)^k, a growing geometric series dominated by the last level, so additions never change the exponent.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IMAGE: native comparison table. Computed values: n³ vs 7^log2(n) for n powers of two. Emphasise the gap grows without bound but only pays off once n is large enough to amortise the extra additions.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IMAGE: two-column text slide (valid vs limits); no external image.</a:t>
            </a:r>
          </a:p>
          <a:p>
            <a:r>
              <a:t>Validity: needs a ring (subtraction). Fails for Boolean and min-plus semirings. Square power-of-two by padding. Exact for integers; floats lose some 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IMAGE: native table of error-bound comparison.</a:t>
            </a:r>
          </a:p>
          <a:p>
            <a:r>
              <a:t>Classical multiplication has a componentwise error bound; Strassen's is only normwise (Higham; Webb Miller 1975). Demmel, Dumitriu, Holtz and Kleinberg proved that fast matrix multiplication algorithms are 'stable' in a normwise sense, so the loss is a worse constant, not a catastrophe.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IMAGE: MatrixMultComplexity_svg.svg (Jochen Burghardt, CC BY-SA 4.0, Wikimedia Commons) - the improvement of the exponent omega over time from 3 down to ~2.37.</a:t>
            </a:r>
          </a:p>
          <a:p>
            <a:r>
              <a:t>Hopcroft &amp; Kerr 1971 and Winograd 1971: 7 multiplications is optimal for 2x2. AlphaTensor (Fawzi et al., Nature 2022) found 47 multiplications for 4x4 over GF(2), beating 49 = 7x7 from Strassen applied twice. Alman et al. 2024: omega &lt; 2.371339.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IMAGE: none, text only. Keep on screen for the final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14-Oct-2026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14-Oct-2026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14-Oct-2026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14-Oct-2026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14-Oct-2026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14-Oct-2026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14-Oct-2026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14-Oct-2026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14-Oct-2026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14-Oct-2026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14-Oct-2026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14-Oct-2026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 dirty="0">
                <a:solidFill>
                  <a:srgbClr val="FFFFFF"/>
                </a:solidFill>
                <a:latin typeface="Calibri"/>
              </a:rPr>
              <a:t>Strassen's Algorith</a:t>
            </a:r>
            <a:r>
              <a:rPr lang="en-US" sz="3200" b="1" dirty="0">
                <a:solidFill>
                  <a:srgbClr val="FFFFFF"/>
                </a:solidFill>
                <a:latin typeface="Calibri"/>
              </a:rPr>
              <a:t>m</a:t>
            </a:r>
            <a:endParaRPr sz="3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943600" cy="1497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lang="en-US" sz="2600" b="0" dirty="0">
                <a:solidFill>
                  <a:srgbClr val="1B2A49"/>
                </a:solidFill>
                <a:latin typeface="Calibri"/>
              </a:rPr>
              <a:t>- </a:t>
            </a:r>
            <a:r>
              <a:rPr sz="2600" b="0" dirty="0">
                <a:solidFill>
                  <a:srgbClr val="1B2A49"/>
                </a:solidFill>
                <a:latin typeface="Calibri"/>
              </a:rPr>
              <a:t>Fast matrix multiplication</a:t>
            </a:r>
          </a:p>
          <a:p>
            <a:pPr algn="l">
              <a:spcAft>
                <a:spcPts val="800"/>
              </a:spcAft>
            </a:pPr>
            <a:r>
              <a:rPr lang="en-US" sz="2600" b="0" dirty="0">
                <a:solidFill>
                  <a:srgbClr val="1B2A49"/>
                </a:solidFill>
                <a:latin typeface="Calibri"/>
              </a:rPr>
              <a:t>- </a:t>
            </a:r>
            <a:r>
              <a:rPr sz="2600" b="0" dirty="0">
                <a:solidFill>
                  <a:srgbClr val="1B2A49"/>
                </a:solidFill>
                <a:latin typeface="Calibri"/>
              </a:rPr>
              <a:t>Volker Strassen, 1969</a:t>
            </a:r>
          </a:p>
          <a:p>
            <a:pPr algn="l">
              <a:spcAft>
                <a:spcPts val="800"/>
              </a:spcAft>
            </a:pPr>
            <a:r>
              <a:rPr lang="en-US" sz="2600" dirty="0">
                <a:solidFill>
                  <a:srgbClr val="1B2A49"/>
                </a:solidFill>
                <a:latin typeface="Calibri"/>
              </a:rPr>
              <a:t>- "</a:t>
            </a:r>
            <a:r>
              <a:rPr sz="2600" b="0" dirty="0">
                <a:solidFill>
                  <a:srgbClr val="1B2A49"/>
                </a:solidFill>
                <a:latin typeface="Calibri"/>
              </a:rPr>
              <a:t>Gaussian elimination is not optimal</a:t>
            </a:r>
            <a:r>
              <a:rPr lang="en-US" sz="2600" b="0" dirty="0">
                <a:solidFill>
                  <a:srgbClr val="1B2A49"/>
                </a:solidFill>
                <a:latin typeface="Calibri"/>
              </a:rPr>
              <a:t>"</a:t>
            </a:r>
            <a:endParaRPr sz="2600" b="0" dirty="0">
              <a:solidFill>
                <a:srgbClr val="1B2A49"/>
              </a:solidFill>
              <a:latin typeface="Calibri"/>
            </a:endParaRPr>
          </a:p>
        </p:txBody>
      </p:sp>
      <p:pic>
        <p:nvPicPr>
          <p:cNvPr id="6" name="Picture 5" descr="strassen_portrai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4760" y="1371600"/>
            <a:ext cx="316992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6172200"/>
            <a:ext cx="5029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0" dirty="0">
                <a:solidFill>
                  <a:srgbClr val="555555"/>
                </a:solidFill>
                <a:latin typeface="Calibri"/>
              </a:rPr>
              <a:t>Volker Strassen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 dirty="0">
                <a:solidFill>
                  <a:srgbClr val="FFFFFF"/>
                </a:solidFill>
                <a:latin typeface="Calibri"/>
              </a:rPr>
              <a:t>The proble</a:t>
            </a:r>
            <a:r>
              <a:rPr lang="en-US" sz="3200" b="1" dirty="0">
                <a:solidFill>
                  <a:srgbClr val="FFFFFF"/>
                </a:solidFill>
                <a:latin typeface="Calibri"/>
              </a:rPr>
              <a:t>m</a:t>
            </a:r>
            <a:endParaRPr sz="3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669280" cy="2513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 dirty="0">
                <a:solidFill>
                  <a:srgbClr val="1B2A49"/>
                </a:solidFill>
                <a:latin typeface="Calibri"/>
              </a:rPr>
              <a:t>C[</a:t>
            </a:r>
            <a:r>
              <a:rPr sz="2400" b="0" dirty="0" err="1">
                <a:solidFill>
                  <a:srgbClr val="1B2A49"/>
                </a:solidFill>
                <a:latin typeface="Calibri"/>
              </a:rPr>
              <a:t>i</a:t>
            </a:r>
            <a:r>
              <a:rPr sz="2400" b="0" dirty="0">
                <a:solidFill>
                  <a:srgbClr val="1B2A49"/>
                </a:solidFill>
                <a:latin typeface="Calibri"/>
              </a:rPr>
              <a:t>][j] = </a:t>
            </a:r>
            <a:r>
              <a:rPr lang="en-US" sz="2400" dirty="0">
                <a:solidFill>
                  <a:srgbClr val="1B2A49"/>
                </a:solidFill>
                <a:latin typeface="Calibri"/>
              </a:rPr>
              <a:t>sum(</a:t>
            </a:r>
            <a:r>
              <a:rPr sz="2400" b="0" dirty="0">
                <a:solidFill>
                  <a:srgbClr val="1B2A49"/>
                </a:solidFill>
                <a:latin typeface="Calibri"/>
              </a:rPr>
              <a:t>A[</a:t>
            </a:r>
            <a:r>
              <a:rPr sz="2400" b="0" dirty="0" err="1">
                <a:solidFill>
                  <a:srgbClr val="1B2A49"/>
                </a:solidFill>
                <a:latin typeface="Calibri"/>
              </a:rPr>
              <a:t>i</a:t>
            </a:r>
            <a:r>
              <a:rPr sz="2400" b="0" dirty="0">
                <a:solidFill>
                  <a:srgbClr val="1B2A49"/>
                </a:solidFill>
                <a:latin typeface="Calibri"/>
              </a:rPr>
              <a:t>][k] · B[k][j]</a:t>
            </a:r>
            <a:r>
              <a:rPr lang="en-US" sz="2400" b="0" dirty="0">
                <a:solidFill>
                  <a:srgbClr val="1B2A49"/>
                </a:solidFill>
                <a:latin typeface="Calibri"/>
              </a:rPr>
              <a:t>)</a:t>
            </a:r>
            <a:endParaRPr sz="2400" b="0" dirty="0">
              <a:solidFill>
                <a:srgbClr val="1B2A49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2400" b="0" dirty="0">
                <a:solidFill>
                  <a:srgbClr val="1B2A49"/>
                </a:solidFill>
                <a:latin typeface="Calibri"/>
              </a:rPr>
              <a:t>n² entries in C, each needs n multiplications  </a:t>
            </a:r>
            <a:r>
              <a:rPr lang="en-US" sz="2400" b="0" dirty="0">
                <a:solidFill>
                  <a:srgbClr val="1B2A49"/>
                </a:solidFill>
                <a:latin typeface="Calibri"/>
              </a:rPr>
              <a:t>-&gt;</a:t>
            </a:r>
            <a:r>
              <a:rPr sz="2400" b="0" dirty="0">
                <a:solidFill>
                  <a:srgbClr val="1B2A49"/>
                </a:solidFill>
                <a:latin typeface="Calibri"/>
              </a:rPr>
              <a:t>  n³ multiplications</a:t>
            </a:r>
          </a:p>
          <a:p>
            <a:pPr algn="l">
              <a:spcAft>
                <a:spcPts val="800"/>
              </a:spcAft>
            </a:pPr>
            <a:r>
              <a:rPr sz="2400" b="0" dirty="0">
                <a:solidFill>
                  <a:srgbClr val="1B2A49"/>
                </a:solidFill>
                <a:latin typeface="Calibri"/>
              </a:rPr>
              <a:t>Used everywhere: neural networks, graphics, solving linear systems, graph algorithms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0" y="1828800"/>
          <a:ext cx="51206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Classical n³ multiplications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t>1,000,000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t>1,024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t>1,073,741,824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6" descr="Matrix Multiplication-Why is it a big deal? | by Charchithowitzer | Medium">
            <a:extLst>
              <a:ext uri="{FF2B5EF4-FFF2-40B4-BE49-F238E27FC236}">
                <a16:creationId xmlns:a16="http://schemas.microsoft.com/office/drawing/2014/main" id="{A4BCEB43-0156-1A6A-9A33-469C97369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770" y="4080365"/>
            <a:ext cx="7003514" cy="23661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lang="en-US" sz="3200" b="1" dirty="0">
                <a:solidFill>
                  <a:srgbClr val="FFFFFF"/>
                </a:solidFill>
                <a:latin typeface="Calibri"/>
              </a:rPr>
              <a:t>Divide </a:t>
            </a:r>
            <a:r>
              <a:rPr sz="3200" b="1" dirty="0">
                <a:solidFill>
                  <a:srgbClr val="FFFFFF"/>
                </a:solidFill>
                <a:latin typeface="Calibri"/>
              </a:rPr>
              <a:t>and conquer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822960" cy="822960"/>
          </a:xfrm>
          <a:prstGeom prst="rect">
            <a:avLst/>
          </a:prstGeom>
          <a:solidFill>
            <a:srgbClr val="4A90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A11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645920"/>
            <a:ext cx="822960" cy="822960"/>
          </a:xfrm>
          <a:prstGeom prst="rect">
            <a:avLst/>
          </a:prstGeom>
          <a:solidFill>
            <a:srgbClr val="E09A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822960" cy="822960"/>
          </a:xfrm>
          <a:prstGeom prst="rect">
            <a:avLst/>
          </a:prstGeom>
          <a:solidFill>
            <a:srgbClr val="3CA86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A21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468880"/>
            <a:ext cx="822960" cy="822960"/>
          </a:xfrm>
          <a:prstGeom prst="rect">
            <a:avLst/>
          </a:prstGeom>
          <a:solidFill>
            <a:srgbClr val="8E5B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71700" y="2182167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US" sz="2400" dirty="0">
                <a:solidFill>
                  <a:srgbClr val="1B2A49"/>
                </a:solidFill>
                <a:latin typeface="Calibri"/>
              </a:rPr>
              <a:t>x</a:t>
            </a:r>
            <a:endParaRPr sz="2400" dirty="0">
              <a:solidFill>
                <a:srgbClr val="1B2A49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834640" y="1645920"/>
            <a:ext cx="822960" cy="822960"/>
          </a:xfrm>
          <a:prstGeom prst="rect">
            <a:avLst/>
          </a:prstGeom>
          <a:solidFill>
            <a:srgbClr val="4A90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B11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645920"/>
            <a:ext cx="822960" cy="822960"/>
          </a:xfrm>
          <a:prstGeom prst="rect">
            <a:avLst/>
          </a:prstGeom>
          <a:solidFill>
            <a:srgbClr val="E09A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B12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2468880"/>
            <a:ext cx="822960" cy="822960"/>
          </a:xfrm>
          <a:prstGeom prst="rect">
            <a:avLst/>
          </a:prstGeom>
          <a:solidFill>
            <a:srgbClr val="3CA86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B21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468880"/>
            <a:ext cx="822960" cy="822960"/>
          </a:xfrm>
          <a:prstGeom prst="rect">
            <a:avLst/>
          </a:prstGeom>
          <a:solidFill>
            <a:srgbClr val="8E5B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B22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1168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555555"/>
                </a:solidFill>
                <a:latin typeface="Calibri"/>
              </a:rPr>
              <a:t>=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1645920"/>
            <a:ext cx="822960" cy="822960"/>
          </a:xfrm>
          <a:prstGeom prst="rect">
            <a:avLst/>
          </a:prstGeom>
          <a:solidFill>
            <a:srgbClr val="4A90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C11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645920"/>
            <a:ext cx="822960" cy="822960"/>
          </a:xfrm>
          <a:prstGeom prst="rect">
            <a:avLst/>
          </a:prstGeom>
          <a:solidFill>
            <a:srgbClr val="E09A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2468880"/>
            <a:ext cx="822960" cy="822960"/>
          </a:xfrm>
          <a:prstGeom prst="rect">
            <a:avLst/>
          </a:prstGeom>
          <a:solidFill>
            <a:srgbClr val="3CA86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dirty="0"/>
              <a:t>C21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2468880"/>
            <a:ext cx="822960" cy="822960"/>
          </a:xfrm>
          <a:prstGeom prst="rect">
            <a:avLst/>
          </a:prstGeom>
          <a:solidFill>
            <a:srgbClr val="8E5B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dirty="0"/>
              <a:t>C22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58287"/>
            <a:ext cx="5943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dirty="0">
                <a:solidFill>
                  <a:srgbClr val="1B2A49"/>
                </a:solidFill>
                <a:latin typeface="Calibri"/>
              </a:rPr>
              <a:t>Each block is (n/2 </a:t>
            </a:r>
            <a:r>
              <a:rPr lang="en-US" sz="2400" dirty="0">
                <a:solidFill>
                  <a:srgbClr val="1B2A49"/>
                </a:solidFill>
                <a:latin typeface="Calibri"/>
              </a:rPr>
              <a:t>x</a:t>
            </a:r>
            <a:r>
              <a:rPr sz="2400" dirty="0">
                <a:solidFill>
                  <a:srgbClr val="1B2A49"/>
                </a:solidFill>
                <a:latin typeface="Calibri"/>
              </a:rPr>
              <a:t> n/2)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12080"/>
            <a:ext cx="594360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dirty="0">
                <a:solidFill>
                  <a:srgbClr val="1B2A49"/>
                </a:solidFill>
                <a:latin typeface="Calibri"/>
              </a:rPr>
              <a:t>Naive recursion: 8 block products</a:t>
            </a:r>
          </a:p>
          <a:p>
            <a:pPr algn="l">
              <a:spcAft>
                <a:spcPts val="800"/>
              </a:spcAft>
            </a:pPr>
            <a:r>
              <a:rPr sz="2400" dirty="0">
                <a:solidFill>
                  <a:srgbClr val="1B2A49"/>
                </a:solidFill>
                <a:latin typeface="Calibri"/>
              </a:rPr>
              <a:t>T(n) = 8T(n/2) + </a:t>
            </a:r>
            <a:r>
              <a:rPr lang="en-US" sz="2400" dirty="0">
                <a:solidFill>
                  <a:srgbClr val="1B2A49"/>
                </a:solidFill>
                <a:latin typeface="Calibri"/>
              </a:rPr>
              <a:t>Theta</a:t>
            </a:r>
            <a:r>
              <a:rPr sz="2400" dirty="0">
                <a:solidFill>
                  <a:srgbClr val="1B2A49"/>
                </a:solidFill>
                <a:latin typeface="Calibri"/>
              </a:rPr>
              <a:t>(n²) = </a:t>
            </a:r>
            <a:r>
              <a:rPr lang="en-US" sz="2400" dirty="0">
                <a:solidFill>
                  <a:srgbClr val="1B2A49"/>
                </a:solidFill>
                <a:latin typeface="Calibri"/>
              </a:rPr>
              <a:t>Theta</a:t>
            </a:r>
            <a:r>
              <a:rPr sz="2400" dirty="0">
                <a:solidFill>
                  <a:srgbClr val="1B2A49"/>
                </a:solidFill>
                <a:latin typeface="Calibri"/>
              </a:rPr>
              <a:t>(n³)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8480" y="3432387"/>
            <a:ext cx="4937760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 dirty="0">
                <a:solidFill>
                  <a:srgbClr val="1B2A49"/>
                </a:solidFill>
                <a:latin typeface="Calibri"/>
              </a:rPr>
              <a:t>C₁₁ = A₁₁B₁₁ + A₁₂B₂₁</a:t>
            </a:r>
          </a:p>
          <a:p>
            <a:pPr algn="l">
              <a:spcAft>
                <a:spcPts val="800"/>
              </a:spcAft>
            </a:pPr>
            <a:r>
              <a:rPr sz="2400" b="0" dirty="0">
                <a:solidFill>
                  <a:srgbClr val="1B2A49"/>
                </a:solidFill>
                <a:latin typeface="Calibri"/>
              </a:rPr>
              <a:t>C₁₂ = A₁₁B₁₂ + A₁₂B₂₂</a:t>
            </a:r>
          </a:p>
          <a:p>
            <a:pPr algn="l">
              <a:spcAft>
                <a:spcPts val="800"/>
              </a:spcAft>
            </a:pPr>
            <a:r>
              <a:rPr sz="2400" b="0" dirty="0">
                <a:solidFill>
                  <a:srgbClr val="1B2A49"/>
                </a:solidFill>
                <a:latin typeface="Calibri"/>
              </a:rPr>
              <a:t>C₂₁ = A₂₁B₁₁ + A₂₂B₂₁</a:t>
            </a:r>
          </a:p>
          <a:p>
            <a:pPr algn="l">
              <a:spcAft>
                <a:spcPts val="800"/>
              </a:spcAft>
            </a:pPr>
            <a:r>
              <a:rPr sz="2400" b="0" dirty="0">
                <a:solidFill>
                  <a:srgbClr val="1B2A49"/>
                </a:solidFill>
                <a:latin typeface="Calibri"/>
              </a:rPr>
              <a:t>C₂₂ = A₂₁B₁₂ + A₂₂B₂₂</a:t>
            </a:r>
          </a:p>
          <a:p>
            <a:pPr algn="l">
              <a:spcAft>
                <a:spcPts val="800"/>
              </a:spcAft>
            </a:pPr>
            <a:r>
              <a:rPr sz="2400" b="0" dirty="0">
                <a:solidFill>
                  <a:srgbClr val="1B2A49"/>
                </a:solidFill>
                <a:latin typeface="Calibri"/>
              </a:rPr>
              <a:t>8 </a:t>
            </a:r>
            <a:r>
              <a:rPr lang="en-US" sz="2400" b="0" dirty="0">
                <a:solidFill>
                  <a:srgbClr val="1B2A49"/>
                </a:solidFill>
                <a:latin typeface="Calibri"/>
              </a:rPr>
              <a:t>smaller</a:t>
            </a:r>
            <a:r>
              <a:rPr sz="2400" b="0" dirty="0">
                <a:solidFill>
                  <a:srgbClr val="1B2A49"/>
                </a:solidFill>
                <a:latin typeface="Calibri"/>
              </a:rPr>
              <a:t> multiplications  </a:t>
            </a:r>
            <a:r>
              <a:rPr lang="en-US" sz="2400" dirty="0">
                <a:solidFill>
                  <a:srgbClr val="1B2A49"/>
                </a:solidFill>
                <a:latin typeface="Calibri"/>
              </a:rPr>
              <a:t>-&gt;</a:t>
            </a:r>
            <a:r>
              <a:rPr sz="2400" b="0" dirty="0">
                <a:solidFill>
                  <a:srgbClr val="1B2A49"/>
                </a:solidFill>
                <a:latin typeface="Calibri"/>
              </a:rPr>
              <a:t>  still n³</a:t>
            </a:r>
          </a:p>
          <a:p>
            <a:pPr algn="l">
              <a:spcAft>
                <a:spcPts val="800"/>
              </a:spcAft>
            </a:pPr>
            <a:r>
              <a:rPr sz="2400" b="0" dirty="0">
                <a:solidFill>
                  <a:srgbClr val="1B2A49"/>
                </a:solidFill>
                <a:latin typeface="Calibri"/>
              </a:rPr>
              <a:t>Additions are cheap (n² work)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lang="en-US" sz="3200" b="1" dirty="0">
                <a:solidFill>
                  <a:srgbClr val="FFFFFF"/>
                </a:solidFill>
                <a:latin typeface="Calibri"/>
              </a:rPr>
              <a:t>Seven products instead of Eight</a:t>
            </a:r>
            <a:endParaRPr sz="3200" b="1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5" name="Picture 4" descr="strassen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487" y="1097280"/>
            <a:ext cx="7488545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29547" y="3822633"/>
            <a:ext cx="5669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dirty="0">
                <a:solidFill>
                  <a:srgbClr val="1B2A49"/>
                </a:solidFill>
                <a:latin typeface="Calibri"/>
              </a:rPr>
              <a:t>M₁ = (A₁₁ + A₂₂)(B₁₁ + B₂₂)</a:t>
            </a:r>
          </a:p>
          <a:p>
            <a:pPr algn="l">
              <a:spcAft>
                <a:spcPts val="800"/>
              </a:spcAft>
            </a:pPr>
            <a:r>
              <a:rPr sz="1900" b="0" dirty="0">
                <a:solidFill>
                  <a:srgbClr val="1B2A49"/>
                </a:solidFill>
                <a:latin typeface="Calibri"/>
              </a:rPr>
              <a:t>M₂ = (A₂₁ + A₂₂) B₁₁</a:t>
            </a:r>
          </a:p>
          <a:p>
            <a:pPr algn="l">
              <a:spcAft>
                <a:spcPts val="800"/>
              </a:spcAft>
            </a:pPr>
            <a:r>
              <a:rPr sz="1900" b="0" dirty="0">
                <a:solidFill>
                  <a:srgbClr val="1B2A49"/>
                </a:solidFill>
                <a:latin typeface="Calibri"/>
              </a:rPr>
              <a:t>M₃ = A₁₁ (B₁₂ − B₂₂)</a:t>
            </a:r>
          </a:p>
          <a:p>
            <a:pPr algn="l">
              <a:spcAft>
                <a:spcPts val="800"/>
              </a:spcAft>
            </a:pPr>
            <a:r>
              <a:rPr sz="1900" b="0" dirty="0">
                <a:solidFill>
                  <a:srgbClr val="1B2A49"/>
                </a:solidFill>
                <a:latin typeface="Calibri"/>
              </a:rPr>
              <a:t>M₄ = A₂₂ (B₂₁ − B₁₁)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03813" y="4029354"/>
            <a:ext cx="5669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dirty="0">
                <a:solidFill>
                  <a:srgbClr val="1B2A49"/>
                </a:solidFill>
                <a:latin typeface="Calibri"/>
              </a:rPr>
              <a:t>M₅ = (A₁₁ + A₁₂) B₂₂</a:t>
            </a:r>
          </a:p>
          <a:p>
            <a:pPr algn="l">
              <a:spcAft>
                <a:spcPts val="800"/>
              </a:spcAft>
            </a:pPr>
            <a:r>
              <a:rPr sz="1900" b="0" dirty="0">
                <a:solidFill>
                  <a:srgbClr val="1B2A49"/>
                </a:solidFill>
                <a:latin typeface="Calibri"/>
              </a:rPr>
              <a:t>M₆ = (A₂₁ − A₁₁)(B₁₁ + B₁₂)</a:t>
            </a:r>
          </a:p>
          <a:p>
            <a:pPr algn="l">
              <a:spcAft>
                <a:spcPts val="800"/>
              </a:spcAft>
            </a:pPr>
            <a:r>
              <a:rPr sz="1900" b="0" dirty="0">
                <a:solidFill>
                  <a:srgbClr val="1B2A49"/>
                </a:solidFill>
                <a:latin typeface="Calibri"/>
              </a:rPr>
              <a:t>M₇ = (A₁₂ − A₂₂)(B₂₁ + B₂₂)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4533" y="5931747"/>
            <a:ext cx="1133856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dirty="0">
                <a:solidFill>
                  <a:srgbClr val="1B2A49"/>
                </a:solidFill>
                <a:latin typeface="Calibri"/>
              </a:rPr>
              <a:t>C₁₁ = M₁ + M₄ − M₅ + M₇     C₁₂ = M₃ + M₅     C₂₁ = M₂ + M₄     C₂₂ = M₁ − M₂ + M₃ + M₆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Why the complexity is n^log₂7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779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dirty="0">
                <a:solidFill>
                  <a:srgbClr val="1B2A49"/>
                </a:solidFill>
                <a:latin typeface="Calibri"/>
              </a:rPr>
              <a:t>T(n) = 7 </a:t>
            </a:r>
            <a:r>
              <a:rPr lang="en-US" sz="1900" dirty="0">
                <a:solidFill>
                  <a:srgbClr val="1B2A49"/>
                </a:solidFill>
                <a:latin typeface="Calibri"/>
              </a:rPr>
              <a:t>x</a:t>
            </a:r>
            <a:r>
              <a:rPr sz="1900" dirty="0">
                <a:solidFill>
                  <a:srgbClr val="1B2A49"/>
                </a:solidFill>
                <a:latin typeface="Calibri"/>
              </a:rPr>
              <a:t> T(n/2) + </a:t>
            </a:r>
            <a:r>
              <a:rPr lang="en-US" sz="1900" dirty="0">
                <a:solidFill>
                  <a:srgbClr val="1B2A49"/>
                </a:solidFill>
                <a:latin typeface="Calibri"/>
              </a:rPr>
              <a:t>Theta</a:t>
            </a:r>
            <a:r>
              <a:rPr sz="1900" dirty="0">
                <a:solidFill>
                  <a:srgbClr val="1B2A49"/>
                </a:solidFill>
                <a:latin typeface="Calibri"/>
              </a:rPr>
              <a:t>(n²)</a:t>
            </a:r>
          </a:p>
          <a:p>
            <a:pPr algn="l">
              <a:spcAft>
                <a:spcPts val="800"/>
              </a:spcAft>
            </a:pPr>
            <a:r>
              <a:rPr sz="1900" dirty="0">
                <a:solidFill>
                  <a:srgbClr val="1B2A49"/>
                </a:solidFill>
                <a:latin typeface="Calibri"/>
              </a:rPr>
              <a:t>Master theorem: a = 7, b = 2, n^log₂7 </a:t>
            </a:r>
            <a:r>
              <a:rPr lang="en-US" sz="1900" dirty="0">
                <a:solidFill>
                  <a:srgbClr val="1B2A49"/>
                </a:solidFill>
                <a:latin typeface="Calibri"/>
              </a:rPr>
              <a:t>approx. =</a:t>
            </a:r>
            <a:r>
              <a:rPr sz="1900" dirty="0">
                <a:solidFill>
                  <a:srgbClr val="1B2A49"/>
                </a:solidFill>
                <a:latin typeface="Calibri"/>
              </a:rPr>
              <a:t> n^2.807 &gt; n²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233069"/>
              </p:ext>
            </p:extLst>
          </p:nvPr>
        </p:nvGraphicFramePr>
        <p:xfrm>
          <a:off x="457200" y="2926080"/>
          <a:ext cx="1124711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Level k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Subproblems 7ᵏ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Block size n/2ᵏ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Extra</a:t>
                      </a:r>
                      <a:r>
                        <a:rPr dirty="0"/>
                        <a:t> work per </a:t>
                      </a:r>
                      <a:r>
                        <a:rPr lang="en-US" dirty="0"/>
                        <a:t>recurse</a:t>
                      </a:r>
                      <a:endParaRPr dirty="0"/>
                    </a:p>
                  </a:txBody>
                  <a:tcPr>
                    <a:solidFill>
                      <a:srgbClr val="1B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t>n²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t>n/2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rPr dirty="0"/>
                        <a:t>7/4 </a:t>
                      </a:r>
                      <a:r>
                        <a:rPr lang="en-US" dirty="0"/>
                        <a:t>x</a:t>
                      </a:r>
                      <a:r>
                        <a:rPr dirty="0"/>
                        <a:t> n²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t>49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t>n/4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rPr dirty="0"/>
                        <a:t>(7/4)² </a:t>
                      </a:r>
                      <a:r>
                        <a:rPr lang="en-US" dirty="0"/>
                        <a:t>x</a:t>
                      </a:r>
                      <a:r>
                        <a:rPr dirty="0"/>
                        <a:t> n²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rPr dirty="0"/>
                        <a:t>log₂ n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t>7^log₂n = n^log₂7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rPr dirty="0"/>
                        <a:t>(7/4)^</a:t>
                      </a:r>
                      <a:r>
                        <a:rPr dirty="0" err="1"/>
                        <a:t>log₂n</a:t>
                      </a:r>
                      <a:r>
                        <a:rPr dirty="0"/>
                        <a:t> </a:t>
                      </a:r>
                      <a:r>
                        <a:rPr lang="en-US" dirty="0"/>
                        <a:t>x</a:t>
                      </a:r>
                      <a:r>
                        <a:rPr dirty="0"/>
                        <a:t> n² = n^log₂7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 dirty="0">
                <a:solidFill>
                  <a:srgbClr val="FFFFFF"/>
                </a:solidFill>
                <a:latin typeface="Calibri"/>
              </a:rPr>
              <a:t>Classical vs Strassen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Segment 5 - Complexity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776733"/>
              </p:ext>
            </p:extLst>
          </p:nvPr>
        </p:nvGraphicFramePr>
        <p:xfrm>
          <a:off x="731520" y="155448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2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Classical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Strassen 7^log₂n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Ratio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rPr dirty="0"/>
                        <a:t>4096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rPr dirty="0"/>
                        <a:t>2401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rPr dirty="0"/>
                        <a:t>1.7</a:t>
                      </a:r>
                      <a:r>
                        <a:rPr lang="en-US" dirty="0"/>
                        <a:t>x</a:t>
                      </a:r>
                      <a:endParaRPr dirty="0"/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t>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rPr dirty="0"/>
                        <a:t>16777216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rPr dirty="0"/>
                        <a:t>5764801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rPr dirty="0"/>
                        <a:t>2.9</a:t>
                      </a:r>
                      <a:r>
                        <a:rPr lang="en-US" dirty="0"/>
                        <a:t>x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rPr dirty="0"/>
                        <a:t>1024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rPr dirty="0"/>
                        <a:t>1073741824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rPr dirty="0"/>
                        <a:t>282475249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rPr dirty="0"/>
                        <a:t>3.8</a:t>
                      </a:r>
                      <a:r>
                        <a:rPr lang="en-US" dirty="0"/>
                        <a:t>x</a:t>
                      </a:r>
                      <a:endParaRPr dirty="0"/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rPr dirty="0"/>
                        <a:t>8192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rPr dirty="0"/>
                        <a:t>5.5 </a:t>
                      </a:r>
                      <a:r>
                        <a:rPr lang="en-US" dirty="0"/>
                        <a:t>x</a:t>
                      </a:r>
                      <a:r>
                        <a:rPr dirty="0"/>
                        <a:t> 10¹¹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rPr dirty="0"/>
                        <a:t>9.7 </a:t>
                      </a:r>
                      <a:r>
                        <a:rPr lang="en-US" dirty="0"/>
                        <a:t>x</a:t>
                      </a:r>
                      <a:r>
                        <a:rPr dirty="0"/>
                        <a:t> 10¹⁰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rPr dirty="0"/>
                        <a:t>5.7</a:t>
                      </a:r>
                      <a:r>
                        <a:rPr lang="en-US" dirty="0"/>
                        <a:t>x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029200"/>
            <a:ext cx="10698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dirty="0">
                <a:solidFill>
                  <a:srgbClr val="1B2A49"/>
                </a:solidFill>
                <a:latin typeface="Calibri"/>
              </a:rPr>
              <a:t>Recurrence only counts multiplications at full depth. Real implementations stop early (see the code) and switch to classical multiplication below a threshold.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Constraints and practical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57784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 dirty="0">
                <a:solidFill>
                  <a:srgbClr val="1B2A49"/>
                </a:solidFill>
                <a:latin typeface="Calibri"/>
              </a:rPr>
              <a:t>WHEN IT APPLIES</a:t>
            </a:r>
          </a:p>
          <a:p>
            <a:pPr algn="l">
              <a:spcAft>
                <a:spcPts val="800"/>
              </a:spcAft>
            </a:pPr>
            <a:r>
              <a:rPr lang="en-US" sz="2200" dirty="0">
                <a:solidFill>
                  <a:srgbClr val="1B2A49"/>
                </a:solidFill>
                <a:latin typeface="Calibri"/>
              </a:rPr>
              <a:t>- </a:t>
            </a:r>
            <a:r>
              <a:rPr sz="2200" b="0" dirty="0">
                <a:solidFill>
                  <a:srgbClr val="1B2A49"/>
                </a:solidFill>
                <a:latin typeface="Calibri"/>
              </a:rPr>
              <a:t>Needs subtraction: any ring (</a:t>
            </a:r>
            <a:r>
              <a:rPr sz="2200" b="0" dirty="0" err="1">
                <a:solidFill>
                  <a:srgbClr val="1B2A49"/>
                </a:solidFill>
                <a:latin typeface="Calibri"/>
              </a:rPr>
              <a:t>ints</a:t>
            </a:r>
            <a:r>
              <a:rPr sz="2200" b="0" dirty="0">
                <a:solidFill>
                  <a:srgbClr val="1B2A49"/>
                </a:solidFill>
                <a:latin typeface="Calibri"/>
              </a:rPr>
              <a:t>, reals, mod p)</a:t>
            </a:r>
            <a:r>
              <a:rPr lang="en-US" sz="2200" b="0" dirty="0">
                <a:solidFill>
                  <a:srgbClr val="1B2A49"/>
                </a:solidFill>
                <a:latin typeface="Calibri"/>
              </a:rPr>
              <a:t> </a:t>
            </a:r>
            <a:r>
              <a:rPr sz="2200" b="0" dirty="0">
                <a:solidFill>
                  <a:srgbClr val="1B2A49"/>
                </a:solidFill>
                <a:latin typeface="Calibri"/>
              </a:rPr>
              <a:t>NOT for </a:t>
            </a:r>
            <a:r>
              <a:rPr sz="2200" b="0" dirty="0" err="1">
                <a:solidFill>
                  <a:srgbClr val="1B2A49"/>
                </a:solidFill>
                <a:latin typeface="Calibri"/>
              </a:rPr>
              <a:t>boolean</a:t>
            </a:r>
            <a:endParaRPr sz="2200" b="0" dirty="0">
              <a:solidFill>
                <a:srgbClr val="1B2A49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lang="en-US" sz="2200" dirty="0">
                <a:solidFill>
                  <a:srgbClr val="1B2A49"/>
                </a:solidFill>
                <a:latin typeface="Calibri"/>
              </a:rPr>
              <a:t>- </a:t>
            </a:r>
            <a:r>
              <a:rPr sz="2200" b="0" dirty="0">
                <a:solidFill>
                  <a:srgbClr val="1B2A49"/>
                </a:solidFill>
                <a:latin typeface="Calibri"/>
              </a:rPr>
              <a:t>Squares of size 2ᵏ</a:t>
            </a:r>
            <a:r>
              <a:rPr lang="en-US" sz="2200" dirty="0">
                <a:solidFill>
                  <a:srgbClr val="1B2A49"/>
                </a:solidFill>
                <a:latin typeface="Calibri"/>
              </a:rPr>
              <a:t> </a:t>
            </a:r>
            <a:r>
              <a:rPr sz="2200" b="0" dirty="0">
                <a:solidFill>
                  <a:srgbClr val="1B2A49"/>
                </a:solidFill>
                <a:latin typeface="Calibri"/>
              </a:rPr>
              <a:t>otherwise pad with zeros</a:t>
            </a:r>
          </a:p>
          <a:p>
            <a:pPr algn="l">
              <a:spcAft>
                <a:spcPts val="800"/>
              </a:spcAft>
            </a:pPr>
            <a:r>
              <a:rPr lang="en-US" sz="2200" dirty="0">
                <a:solidFill>
                  <a:srgbClr val="1B2A49"/>
                </a:solidFill>
                <a:latin typeface="Calibri"/>
              </a:rPr>
              <a:t>- </a:t>
            </a:r>
            <a:r>
              <a:rPr sz="2200" b="0" dirty="0">
                <a:solidFill>
                  <a:srgbClr val="1B2A49"/>
                </a:solidFill>
                <a:latin typeface="Calibri"/>
              </a:rPr>
              <a:t>Exact over integers; rounding error only matters with floats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5486400" cy="365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 dirty="0">
                <a:solidFill>
                  <a:srgbClr val="1B2A49"/>
                </a:solidFill>
                <a:latin typeface="Calibri"/>
              </a:rPr>
              <a:t>PRACTICAL LIMITS</a:t>
            </a:r>
          </a:p>
          <a:p>
            <a:pPr algn="l">
              <a:spcAft>
                <a:spcPts val="800"/>
              </a:spcAft>
            </a:pPr>
            <a:r>
              <a:rPr lang="en-US" sz="2200" dirty="0">
                <a:solidFill>
                  <a:srgbClr val="1B2A49"/>
                </a:solidFill>
                <a:latin typeface="Calibri"/>
              </a:rPr>
              <a:t>- </a:t>
            </a:r>
            <a:r>
              <a:rPr sz="2200" b="0" dirty="0">
                <a:solidFill>
                  <a:srgbClr val="1B2A49"/>
                </a:solidFill>
                <a:latin typeface="Calibri"/>
              </a:rPr>
              <a:t>18 extra block additions per level: slower for small n</a:t>
            </a:r>
          </a:p>
          <a:p>
            <a:pPr algn="l">
              <a:spcAft>
                <a:spcPts val="800"/>
              </a:spcAft>
            </a:pPr>
            <a:r>
              <a:rPr lang="en-US" sz="2200" dirty="0">
                <a:solidFill>
                  <a:srgbClr val="1B2A49"/>
                </a:solidFill>
                <a:latin typeface="Calibri"/>
              </a:rPr>
              <a:t>- </a:t>
            </a:r>
            <a:r>
              <a:rPr sz="2200" b="0" dirty="0">
                <a:solidFill>
                  <a:srgbClr val="1B2A49"/>
                </a:solidFill>
                <a:latin typeface="Calibri"/>
              </a:rPr>
              <a:t>Extra memory: temporaries, padding up to 4</a:t>
            </a:r>
            <a:r>
              <a:rPr lang="en-US" sz="2200" b="0" dirty="0">
                <a:solidFill>
                  <a:srgbClr val="1B2A49"/>
                </a:solidFill>
                <a:latin typeface="Calibri"/>
              </a:rPr>
              <a:t>x</a:t>
            </a:r>
            <a:r>
              <a:rPr sz="2200" b="0" dirty="0">
                <a:solidFill>
                  <a:srgbClr val="1B2A49"/>
                </a:solidFill>
                <a:latin typeface="Calibri"/>
              </a:rPr>
              <a:t> elements</a:t>
            </a:r>
          </a:p>
          <a:p>
            <a:pPr algn="l">
              <a:spcAft>
                <a:spcPts val="800"/>
              </a:spcAft>
            </a:pPr>
            <a:r>
              <a:rPr lang="en-US" sz="2200" dirty="0">
                <a:solidFill>
                  <a:srgbClr val="1B2A49"/>
                </a:solidFill>
                <a:latin typeface="Calibri"/>
              </a:rPr>
              <a:t>- </a:t>
            </a:r>
            <a:r>
              <a:rPr sz="2200" b="0" dirty="0">
                <a:solidFill>
                  <a:srgbClr val="1B2A49"/>
                </a:solidFill>
                <a:latin typeface="Calibri"/>
              </a:rPr>
              <a:t>Cache and </a:t>
            </a:r>
            <a:r>
              <a:rPr sz="2200" b="0" dirty="0" err="1">
                <a:solidFill>
                  <a:srgbClr val="1B2A49"/>
                </a:solidFill>
                <a:latin typeface="Calibri"/>
              </a:rPr>
              <a:t>vectorised</a:t>
            </a:r>
            <a:r>
              <a:rPr sz="2200" b="0" dirty="0">
                <a:solidFill>
                  <a:srgbClr val="1B2A49"/>
                </a:solidFill>
                <a:latin typeface="Calibri"/>
              </a:rPr>
              <a:t> BLAS </a:t>
            </a:r>
            <a:r>
              <a:rPr sz="2200" b="0" dirty="0" err="1">
                <a:solidFill>
                  <a:srgbClr val="1B2A49"/>
                </a:solidFill>
                <a:latin typeface="Calibri"/>
              </a:rPr>
              <a:t>favour</a:t>
            </a:r>
            <a:r>
              <a:rPr sz="2200" b="0" dirty="0">
                <a:solidFill>
                  <a:srgbClr val="1B2A49"/>
                </a:solidFill>
                <a:latin typeface="Calibri"/>
              </a:rPr>
              <a:t> classical code</a:t>
            </a:r>
          </a:p>
          <a:p>
            <a:pPr algn="l">
              <a:spcAft>
                <a:spcPts val="800"/>
              </a:spcAft>
            </a:pPr>
            <a:r>
              <a:rPr lang="en-US" sz="2200" dirty="0">
                <a:solidFill>
                  <a:srgbClr val="1B2A49"/>
                </a:solidFill>
                <a:latin typeface="Calibri"/>
              </a:rPr>
              <a:t>- </a:t>
            </a:r>
            <a:r>
              <a:rPr sz="2200" b="0" dirty="0">
                <a:solidFill>
                  <a:srgbClr val="1B2A49"/>
                </a:solidFill>
                <a:latin typeface="Calibri"/>
              </a:rPr>
              <a:t>Break-even: roughly n </a:t>
            </a:r>
            <a:r>
              <a:rPr lang="en-US" sz="2200" b="0" dirty="0">
                <a:solidFill>
                  <a:srgbClr val="1B2A49"/>
                </a:solidFill>
                <a:latin typeface="Calibri"/>
              </a:rPr>
              <a:t>=</a:t>
            </a:r>
            <a:r>
              <a:rPr sz="2200" b="0" dirty="0">
                <a:solidFill>
                  <a:srgbClr val="1B2A49"/>
                </a:solidFill>
                <a:latin typeface="Calibri"/>
              </a:rPr>
              <a:t> 500-1000+ </a:t>
            </a:r>
            <a:endParaRPr lang="en-US" sz="2200" b="0" dirty="0">
              <a:solidFill>
                <a:srgbClr val="1B2A49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lang="en-US" sz="2200" dirty="0">
                <a:solidFill>
                  <a:srgbClr val="1B2A49"/>
                </a:solidFill>
                <a:latin typeface="Calibri"/>
              </a:rPr>
              <a:t>- </a:t>
            </a:r>
            <a:r>
              <a:rPr sz="2200" b="0" dirty="0">
                <a:solidFill>
                  <a:srgbClr val="1B2A49"/>
                </a:solidFill>
                <a:latin typeface="Calibri"/>
              </a:rPr>
              <a:t>(Huang et al. 2016 saw </a:t>
            </a:r>
            <a:r>
              <a:rPr lang="en-US" sz="2200" b="0" dirty="0">
                <a:solidFill>
                  <a:srgbClr val="1B2A49"/>
                </a:solidFill>
                <a:latin typeface="Calibri"/>
              </a:rPr>
              <a:t>20%</a:t>
            </a:r>
            <a:r>
              <a:rPr sz="2200" b="0" dirty="0">
                <a:solidFill>
                  <a:srgbClr val="1B2A49"/>
                </a:solidFill>
                <a:latin typeface="Calibri"/>
              </a:rPr>
              <a:t> gains at n=512)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 dirty="0">
                <a:solidFill>
                  <a:srgbClr val="FFFFFF"/>
                </a:solidFill>
                <a:latin typeface="Calibri"/>
              </a:rPr>
              <a:t>Extra research: numerical stability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759778"/>
              </p:ext>
            </p:extLst>
          </p:nvPr>
        </p:nvGraphicFramePr>
        <p:xfrm>
          <a:off x="548640" y="1463040"/>
          <a:ext cx="11064240" cy="332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Classical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Strassen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t>Error bound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t>Componentwise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t>Normwise only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t>Badly scaled rows/cols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t>Handled 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t>Can lose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t>Growth with depth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t>Constant grows with recursion levels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rPr dirty="0"/>
                        <a:t>Theory (Demmel et al. 2007)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t>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1B2A49"/>
                          </a:solidFill>
                          <a:latin typeface="Calibri"/>
                        </a:defRPr>
                      </a:pPr>
                      <a:r>
                        <a:rPr dirty="0"/>
                        <a:t>Stable in the </a:t>
                      </a:r>
                      <a:r>
                        <a:rPr dirty="0" err="1"/>
                        <a:t>normwise</a:t>
                      </a:r>
                      <a:r>
                        <a:rPr dirty="0"/>
                        <a:t> sense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120640"/>
            <a:ext cx="11064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dirty="0">
                <a:solidFill>
                  <a:srgbClr val="1B2A49"/>
                </a:solidFill>
                <a:latin typeface="Calibri"/>
              </a:rPr>
              <a:t>Mitigations: stop recursing early and scale rows/columns before multiplying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 dirty="0">
                <a:solidFill>
                  <a:srgbClr val="FFFFFF"/>
                </a:solidFill>
                <a:latin typeface="Calibri"/>
              </a:rPr>
              <a:t>Extra research: is 7 optimal? What came next</a:t>
            </a:r>
          </a:p>
        </p:txBody>
      </p:sp>
      <p:pic>
        <p:nvPicPr>
          <p:cNvPr id="5" name="Picture 4" descr="omega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6252"/>
            <a:ext cx="5852160" cy="3374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436107"/>
            <a:ext cx="5852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0" dirty="0">
                <a:solidFill>
                  <a:srgbClr val="555555"/>
                </a:solidFill>
                <a:latin typeface="Calibri"/>
              </a:rPr>
              <a:t>Exponent </a:t>
            </a:r>
            <a:r>
              <a:rPr lang="en-US" sz="1100" b="0" dirty="0">
                <a:solidFill>
                  <a:srgbClr val="555555"/>
                </a:solidFill>
                <a:latin typeface="Calibri"/>
              </a:rPr>
              <a:t>omega</a:t>
            </a:r>
            <a:r>
              <a:rPr sz="1100" b="0" dirty="0">
                <a:solidFill>
                  <a:srgbClr val="555555"/>
                </a:solidFill>
                <a:latin typeface="Calibri"/>
              </a:rPr>
              <a:t> over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577840" cy="308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0" dirty="0">
                <a:solidFill>
                  <a:srgbClr val="1B2A49"/>
                </a:solidFill>
                <a:latin typeface="Calibri"/>
              </a:rPr>
              <a:t>• Hopcroft &amp; Kerr (1971), Winograd (1971): 7 is optimal for 2</a:t>
            </a:r>
            <a:r>
              <a:rPr lang="en-US" sz="2100" b="0" dirty="0">
                <a:solidFill>
                  <a:srgbClr val="1B2A49"/>
                </a:solidFill>
                <a:latin typeface="Calibri"/>
              </a:rPr>
              <a:t>x</a:t>
            </a:r>
            <a:r>
              <a:rPr sz="2100" b="0" dirty="0">
                <a:solidFill>
                  <a:srgbClr val="1B2A49"/>
                </a:solidFill>
                <a:latin typeface="Calibri"/>
              </a:rPr>
              <a:t>2</a:t>
            </a:r>
          </a:p>
          <a:p>
            <a:pPr algn="l">
              <a:spcAft>
                <a:spcPts val="800"/>
              </a:spcAft>
            </a:pPr>
            <a:r>
              <a:rPr sz="2100" b="0" dirty="0">
                <a:solidFill>
                  <a:srgbClr val="1B2A49"/>
                </a:solidFill>
                <a:latin typeface="Calibri"/>
              </a:rPr>
              <a:t>• Winograd's variant: 15 additions instead of 18</a:t>
            </a:r>
          </a:p>
          <a:p>
            <a:pPr algn="l">
              <a:spcAft>
                <a:spcPts val="800"/>
              </a:spcAft>
            </a:pPr>
            <a:r>
              <a:rPr sz="2100" b="0" dirty="0">
                <a:solidFill>
                  <a:srgbClr val="1B2A49"/>
                </a:solidFill>
                <a:latin typeface="Calibri"/>
              </a:rPr>
              <a:t>• </a:t>
            </a:r>
            <a:r>
              <a:rPr sz="2100" b="0" dirty="0" err="1">
                <a:solidFill>
                  <a:srgbClr val="1B2A49"/>
                </a:solidFill>
                <a:latin typeface="Calibri"/>
              </a:rPr>
              <a:t>AlphaTensor</a:t>
            </a:r>
            <a:r>
              <a:rPr sz="2100" b="0" dirty="0">
                <a:solidFill>
                  <a:srgbClr val="1B2A49"/>
                </a:solidFill>
                <a:latin typeface="Calibri"/>
              </a:rPr>
              <a:t> (DeepMind, 2022): 47 multiplications for 4</a:t>
            </a:r>
            <a:r>
              <a:rPr lang="en-US" sz="2100" b="0" dirty="0">
                <a:solidFill>
                  <a:srgbClr val="1B2A49"/>
                </a:solidFill>
                <a:latin typeface="Calibri"/>
              </a:rPr>
              <a:t>x</a:t>
            </a:r>
            <a:r>
              <a:rPr sz="2100" b="0" dirty="0">
                <a:solidFill>
                  <a:srgbClr val="1B2A49"/>
                </a:solidFill>
                <a:latin typeface="Calibri"/>
              </a:rPr>
              <a:t>4 over GF(2) vs 49</a:t>
            </a:r>
          </a:p>
          <a:p>
            <a:pPr algn="l">
              <a:spcAft>
                <a:spcPts val="800"/>
              </a:spcAft>
            </a:pPr>
            <a:r>
              <a:rPr sz="2100" b="0" dirty="0">
                <a:solidFill>
                  <a:srgbClr val="1B2A49"/>
                </a:solidFill>
                <a:latin typeface="Calibri"/>
              </a:rPr>
              <a:t>• Best known exponent today: </a:t>
            </a:r>
            <a:r>
              <a:rPr lang="en-US" sz="2100" b="0" dirty="0">
                <a:solidFill>
                  <a:srgbClr val="1B2A49"/>
                </a:solidFill>
                <a:latin typeface="Calibri"/>
              </a:rPr>
              <a:t>omega</a:t>
            </a:r>
            <a:r>
              <a:rPr sz="2100" b="0" dirty="0">
                <a:solidFill>
                  <a:srgbClr val="1B2A49"/>
                </a:solidFill>
                <a:latin typeface="Calibri"/>
              </a:rPr>
              <a:t> &lt; 2.371339 (Alman et al., 2024)</a:t>
            </a:r>
          </a:p>
          <a:p>
            <a:pPr algn="l">
              <a:spcAft>
                <a:spcPts val="800"/>
              </a:spcAft>
            </a:pPr>
            <a:r>
              <a:rPr sz="2100" b="0" dirty="0">
                <a:solidFill>
                  <a:srgbClr val="1B2A49"/>
                </a:solidFill>
                <a:latin typeface="Calibri"/>
              </a:rPr>
              <a:t>• Those algorithms are never used in practice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33856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Alman, J., Duan, R., Williams, V. V., Xu, Y., Xu, Z., &amp; Zhou, R. (2024). More asymmetry yields faster matrix multiplication. </a:t>
            </a:r>
            <a:r>
              <a:rPr lang="en-US" i="1" dirty="0" err="1"/>
              <a:t>arXiv</a:t>
            </a:r>
            <a:r>
              <a:rPr lang="en-US" dirty="0"/>
              <a:t>. https://arxiv.org/abs/2404.16349</a:t>
            </a:r>
          </a:p>
          <a:p>
            <a:r>
              <a:rPr lang="en-US" dirty="0" err="1"/>
              <a:t>ByteQuest</a:t>
            </a:r>
            <a:r>
              <a:rPr lang="en-US" dirty="0"/>
              <a:t>. (n.d.). </a:t>
            </a:r>
            <a:r>
              <a:rPr lang="en-US" i="1" dirty="0"/>
              <a:t>Strassen algorithm visually explained</a:t>
            </a:r>
            <a:r>
              <a:rPr lang="en-US" dirty="0"/>
              <a:t> [Video]. YouTube. https://www.youtube.com/watch?v=2IgZuVGwEb0</a:t>
            </a:r>
          </a:p>
          <a:p>
            <a:r>
              <a:rPr lang="en-US" dirty="0"/>
              <a:t>Demmel, J., Dumitriu, I., Holtz, O., &amp; Kleinberg, R. (2007). Fast matrix multiplication is stable. </a:t>
            </a:r>
            <a:r>
              <a:rPr lang="en-US" i="1" dirty="0" err="1"/>
              <a:t>Numerische</a:t>
            </a:r>
            <a:r>
              <a:rPr lang="en-US" i="1" dirty="0"/>
              <a:t> </a:t>
            </a:r>
            <a:r>
              <a:rPr lang="en-US" i="1" dirty="0" err="1"/>
              <a:t>Mathematik</a:t>
            </a:r>
            <a:r>
              <a:rPr lang="en-US" i="1" dirty="0"/>
              <a:t>, 106</a:t>
            </a:r>
            <a:r>
              <a:rPr lang="en-US" dirty="0"/>
              <a:t>, 199–224. https://doi.org/10.1007/s00211-007-0061-6</a:t>
            </a:r>
          </a:p>
          <a:p>
            <a:r>
              <a:rPr lang="en-US" dirty="0"/>
              <a:t>Fawzi, A., Balog, M., Huang, A., Hubert, T., Romera-Paredes, B., </a:t>
            </a:r>
            <a:r>
              <a:rPr lang="en-US" dirty="0" err="1"/>
              <a:t>Barekatain</a:t>
            </a:r>
            <a:r>
              <a:rPr lang="en-US" dirty="0"/>
              <a:t>, M., Novikov, A., Ruiz, F. J. R., </a:t>
            </a:r>
            <a:r>
              <a:rPr lang="en-US" dirty="0" err="1"/>
              <a:t>Schrittwieser</a:t>
            </a:r>
            <a:r>
              <a:rPr lang="en-US" dirty="0"/>
              <a:t>, J., </a:t>
            </a:r>
            <a:r>
              <a:rPr lang="en-US" dirty="0" err="1"/>
              <a:t>Swirszcz</a:t>
            </a:r>
            <a:r>
              <a:rPr lang="en-US" dirty="0"/>
              <a:t>, G., Silver, D., Hassabis, D., &amp; Kohli, P. (2022). Discovering faster matrix multiplication algorithms with reinforcement learning. </a:t>
            </a:r>
            <a:r>
              <a:rPr lang="en-US" i="1" dirty="0"/>
              <a:t>Nature, 610</a:t>
            </a:r>
            <a:r>
              <a:rPr lang="en-US" dirty="0"/>
              <a:t>, 47–53. https://doi.org/10.1038/s41586-022-05172-4</a:t>
            </a:r>
          </a:p>
          <a:p>
            <a:r>
              <a:rPr lang="en-US" dirty="0" err="1"/>
              <a:t>GeeksforGeeks</a:t>
            </a:r>
            <a:r>
              <a:rPr lang="en-US" dirty="0"/>
              <a:t>. (2025). </a:t>
            </a:r>
            <a:r>
              <a:rPr lang="en-US" i="1" dirty="0"/>
              <a:t>Strassen’s matrix multiplication</a:t>
            </a:r>
            <a:r>
              <a:rPr lang="en-US" dirty="0"/>
              <a:t>. https://www.geeksforgeeks.org/dsa/strassens-matrix-multiplication/</a:t>
            </a:r>
          </a:p>
          <a:p>
            <a:r>
              <a:rPr lang="en-US" dirty="0"/>
              <a:t>Sagar Choudhary. (n.d.). </a:t>
            </a:r>
            <a:r>
              <a:rPr lang="en-US" i="1" dirty="0"/>
              <a:t>Strassen’s matrix multiplication | Faster matrix multiplication explained with example</a:t>
            </a:r>
            <a:r>
              <a:rPr lang="en-US" dirty="0"/>
              <a:t> [Video]. YouTube. https://www.youtube.com/watch?v=cGmfchtOJi4</a:t>
            </a:r>
          </a:p>
          <a:p>
            <a:r>
              <a:rPr lang="en-US" dirty="0"/>
              <a:t>Strassen, V. (1969). Gaussian elimination is not optimal. </a:t>
            </a:r>
            <a:r>
              <a:rPr lang="en-US" i="1" dirty="0" err="1"/>
              <a:t>Numerische</a:t>
            </a:r>
            <a:r>
              <a:rPr lang="en-US" i="1" dirty="0"/>
              <a:t> </a:t>
            </a:r>
            <a:r>
              <a:rPr lang="en-US" i="1" dirty="0" err="1"/>
              <a:t>Mathematik</a:t>
            </a:r>
            <a:r>
              <a:rPr lang="en-US" i="1" dirty="0"/>
              <a:t>, 13</a:t>
            </a:r>
            <a:r>
              <a:rPr lang="en-US" dirty="0"/>
              <a:t>(4), 354–356. https://doi.org/10.1007/BF02165411</a:t>
            </a:r>
          </a:p>
          <a:p>
            <a:r>
              <a:rPr lang="en-US" dirty="0"/>
              <a:t>Wikipedia contributors. (n.d.). Computational complexity of matrix multiplication. In </a:t>
            </a:r>
            <a:r>
              <a:rPr lang="en-US" i="1" dirty="0"/>
              <a:t>Wikipedia</a:t>
            </a:r>
            <a:r>
              <a:rPr lang="en-US" dirty="0"/>
              <a:t>. Retrieved October 14, 2026, from https://en.wikipedia.org/wiki/Computational</a:t>
            </a:r>
            <a:r>
              <a:rPr lang="en-US" i="1" dirty="0"/>
              <a:t>complexity</a:t>
            </a:r>
            <a:r>
              <a:rPr lang="en-US" dirty="0"/>
              <a:t>of</a:t>
            </a:r>
            <a:r>
              <a:rPr lang="en-US" i="1" dirty="0"/>
              <a:t>matrix</a:t>
            </a:r>
            <a:r>
              <a:rPr lang="en-US" dirty="0"/>
              <a:t>multiplication</a:t>
            </a:r>
          </a:p>
          <a:p>
            <a:r>
              <a:rPr lang="en-US" dirty="0"/>
              <a:t>Wikipedia contributors. (n.d.). Strassen algorithm. In </a:t>
            </a:r>
            <a:r>
              <a:rPr lang="en-US" i="1" dirty="0"/>
              <a:t>Wikipedia</a:t>
            </a:r>
            <a:r>
              <a:rPr lang="en-US" dirty="0"/>
              <a:t>. Retrieved October 14, 2026, from https://en.wikipedia.org/wiki/Strassen_algorithm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1744</Words>
  <Application>Microsoft Office PowerPoint</Application>
  <PresentationFormat>Widescreen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Mukund Srinivasan</cp:lastModifiedBy>
  <cp:revision>2</cp:revision>
  <dcterms:created xsi:type="dcterms:W3CDTF">2013-01-27T09:14:16Z</dcterms:created>
  <dcterms:modified xsi:type="dcterms:W3CDTF">2026-10-14T11:53:32Z</dcterms:modified>
  <cp:category/>
</cp:coreProperties>
</file>