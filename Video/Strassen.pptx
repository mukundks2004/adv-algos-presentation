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Photo of Volker Strassen at his Knuth Prize lecture (David Eppstein, CC BY-SA 3.0, Wikimedia Commons: File:Strassen_Knuth_Prize_lecture.jpg).</a:t>
            </a:r>
          </a:p>
          <a:p>
            <a:r>
              <a:t>Open with the hook: everyone assumed you needed n³ multiplications until 1969.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left, native table showing the n³ triple-loop count; right, text on where matrix multiplication is used (graphics, ML, solving linear systems, graph algorithms).</a:t>
            </a:r>
          </a:p>
          <a:p>
            <a:r>
              <a:t>Say: C[i,j] = sum over k of A[i,k]*B[k,j]. n² outputs, each is n multiplies -&gt; n³.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native shapes - three 2x2 block grids (A, B, C) drawn in PowerPoint with the blocks colour-coded: A11 blue, A12 orange, A21 green, A22 purple (same for B and C).</a:t>
            </a:r>
          </a:p>
          <a:p>
            <a:r>
              <a:t>Split each matrix into four n/2 x n/2 blocks. The obvious recursion needs 8 block multiplications -&gt; T(n)=8T(n/2)+O(n^2) = O(n^3). No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Strassen_algorithm.svg (Cyp, CC BY-SA 3.0, Wikimedia Commons). Left column = the 8 products of the naive method, columns M1..M7 = Strassen's seven; summing the coloured columns reproduces the left column.</a:t>
            </a:r>
          </a:p>
          <a:p>
            <a:r>
              <a:t>Read the seven products, then the four recombinations. Cue the manim animation to show WHY the combos cancel.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native table of the recursion tree level by level (no external image).</a:t>
            </a:r>
          </a:p>
          <a:p>
            <a:r>
              <a:t>Level k has 7^k subproblems each of size n/2^k. Multiplication work only appears at the leaves: 7^(log2 n) = n^(log2 7). Addition work per level is 7^k (n/2^k)² = n² (7/4)^k, a growing geometric series dominated by the last level, so additions never change the exponent.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native comparison table. Computed values: n³ vs 7^log2(n) for n powers of two. Emphasise the gap grows without bound but only pays off once n is large enough to amortise the extra additions.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two-column text slide (valid vs limits); no external image.</a:t>
            </a:r>
          </a:p>
          <a:p>
            <a:r>
              <a:t>Validity: needs a ring (subtraction). Fails for Boolean and min-plus semirings. Square power-of-two by padding. Exact for integers; floats lose some stability.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native table of error-bound comparison.</a:t>
            </a:r>
          </a:p>
          <a:p>
            <a:r>
              <a:t>Classical multiplication has a componentwise error bound; Strassen's is only normwise (Higham; Webb Miller 1975). Demmel, Dumitriu, Holtz and Kleinberg proved that fast matrix multiplication algorithms are 'stable' in a normwise sense, so the loss is a worse constant, not a catastrophe.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MatrixMultComplexity_svg.svg (Jochen Burghardt, CC BY-SA 4.0, Wikimedia Commons) - the improvement of the exponent omega over time from 3 down to ~2.37.</a:t>
            </a:r>
          </a:p>
          <a:p>
            <a:r>
              <a:t>Hopcroft &amp; Kerr 1971 and Winograd 1971: 7 multiplications is optimal for 2x2. AlphaTensor (Fawzi et al., Nature 2022) found 47 multiplications for 4x4 over GF(2), beating 49 = 7x7 from Strassen applied twice. Alman et al. 2024: omega &lt; 2.371339.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IMAGE: none, text only. Keep on screen for the final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Strassen's Algorithm: beating n³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1 -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1B2A49"/>
                </a:solidFill>
                <a:latin typeface="Calibri"/>
              </a:rPr>
              <a:t>Fast matrix multiplication</a:t>
            </a:r>
          </a:p>
          <a:p>
            <a:pPr algn="l">
              <a:spcAft>
                <a:spcPts val="800"/>
              </a:spcAft>
            </a:pPr>
            <a:r>
              <a:rPr sz="2600" b="0">
                <a:solidFill>
                  <a:srgbClr val="1B2A49"/>
                </a:solidFill>
                <a:latin typeface="Calibri"/>
              </a:rPr>
              <a:t>Volker Strassen, 1969</a:t>
            </a:r>
          </a:p>
          <a:p>
            <a:pPr algn="l">
              <a:spcAft>
                <a:spcPts val="800"/>
              </a:spcAft>
            </a:pPr>
            <a:r>
              <a:rPr sz="2600" b="0">
                <a:solidFill>
                  <a:srgbClr val="1B2A49"/>
                </a:solidFill>
                <a:latin typeface="Calibri"/>
              </a:rPr>
              <a:t>“Gaussian elimination is not optimal”</a:t>
            </a:r>
          </a:p>
          <a:p>
            <a:pPr algn="l">
              <a:spcAft>
                <a:spcPts val="800"/>
              </a:spcAft>
            </a:pPr>
            <a:r>
              <a:rPr sz="2600" b="0">
                <a:solidFill>
                  <a:srgbClr val="1B2A49"/>
                </a:solidFill>
                <a:latin typeface="Calibri"/>
              </a:rPr>
              <a:t>Numerische Mathematik 13, 354-356</a:t>
            </a:r>
          </a:p>
        </p:txBody>
      </p:sp>
      <p:pic>
        <p:nvPicPr>
          <p:cNvPr id="6" name="Picture 5" descr="strassen_portra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4760" y="1371600"/>
            <a:ext cx="316992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6172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Volker Strassen, Knuth Prize lecture. Photo: David Eppstein,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The problem: multiplying two n × n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1 -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C[i][j] = Σₖ A[i][k] · B[k][j]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n² entries in C, each needs n multiplications  →  n³ multiplications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Used everywhere: neural networks, graphics, solving linear systems, graph algorithms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For 60 years nobody thought you could do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828800"/>
          <a:ext cx="51206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</a:tblGrid>
              <a:tr h="411480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 n³ multiplications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1,000,000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1,073,741,824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Idea 1: divide and conquer on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2 -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822960" cy="822960"/>
          </a:xfrm>
          <a:prstGeom prst="rect">
            <a:avLst/>
          </a:prstGeom>
          <a:solidFill>
            <a:srgbClr val="4A90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645920"/>
            <a:ext cx="822960" cy="822960"/>
          </a:xfrm>
          <a:prstGeom prst="rect">
            <a:avLst/>
          </a:prstGeom>
          <a:solidFill>
            <a:srgbClr val="E09A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822960" cy="822960"/>
          </a:xfrm>
          <a:prstGeom prst="rect">
            <a:avLst/>
          </a:prstGeom>
          <a:solidFill>
            <a:srgbClr val="3CA86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468880"/>
            <a:ext cx="822960" cy="822960"/>
          </a:xfrm>
          <a:prstGeom prst="rect">
            <a:avLst/>
          </a:prstGeom>
          <a:solidFill>
            <a:srgbClr val="8E5B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A22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201168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555555"/>
                </a:solidFill>
                <a:latin typeface="Calibri"/>
              </a:rPr>
              <a:t>×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645920"/>
            <a:ext cx="822960" cy="822960"/>
          </a:xfrm>
          <a:prstGeom prst="rect">
            <a:avLst/>
          </a:prstGeom>
          <a:solidFill>
            <a:srgbClr val="4A90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B11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645920"/>
            <a:ext cx="822960" cy="822960"/>
          </a:xfrm>
          <a:prstGeom prst="rect">
            <a:avLst/>
          </a:prstGeom>
          <a:solidFill>
            <a:srgbClr val="E09A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B12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468880"/>
            <a:ext cx="822960" cy="822960"/>
          </a:xfrm>
          <a:prstGeom prst="rect">
            <a:avLst/>
          </a:prstGeom>
          <a:solidFill>
            <a:srgbClr val="3CA86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B21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468880"/>
            <a:ext cx="822960" cy="822960"/>
          </a:xfrm>
          <a:prstGeom prst="rect">
            <a:avLst/>
          </a:prstGeom>
          <a:solidFill>
            <a:srgbClr val="8E5B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B22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555555"/>
                </a:solidFill>
                <a:latin typeface="Calibri"/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645920"/>
            <a:ext cx="822960" cy="822960"/>
          </a:xfrm>
          <a:prstGeom prst="rect">
            <a:avLst/>
          </a:prstGeom>
          <a:solidFill>
            <a:srgbClr val="4A90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C11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645920"/>
            <a:ext cx="822960" cy="822960"/>
          </a:xfrm>
          <a:prstGeom prst="rect">
            <a:avLst/>
          </a:prstGeom>
          <a:solidFill>
            <a:srgbClr val="E09A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C12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468880"/>
            <a:ext cx="822960" cy="822960"/>
          </a:xfrm>
          <a:prstGeom prst="rect">
            <a:avLst/>
          </a:prstGeom>
          <a:solidFill>
            <a:srgbClr val="3CA86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C21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468880"/>
            <a:ext cx="822960" cy="822960"/>
          </a:xfrm>
          <a:prstGeom prst="rect">
            <a:avLst/>
          </a:prstGeom>
          <a:solidFill>
            <a:srgbClr val="8E5BC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C22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4747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  <a:latin typeface="Calibri"/>
              </a:rPr>
              <a:t>Each block is (n/2 × n/2)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E05A2B"/>
                </a:solidFill>
                <a:latin typeface="Calibri"/>
              </a:rPr>
              <a:t>Naive recursion: 8 block products</a:t>
            </a:r>
          </a:p>
          <a:p>
            <a:pPr algn="l">
              <a:spcAft>
                <a:spcPts val="800"/>
              </a:spcAft>
            </a:pPr>
            <a:r>
              <a:rPr sz="2400" b="1">
                <a:solidFill>
                  <a:srgbClr val="E05A2B"/>
                </a:solidFill>
                <a:latin typeface="Calibri"/>
              </a:rPr>
              <a:t>T(n) = 8T(n/2) + Θ(n²) = Θ(n³)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1371600"/>
            <a:ext cx="49377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C₁₁ = A₁₁B₁₁ + A₁₂B₂₁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C₁₂ = A₁₁B₁₂ + A₁₂B₂₂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C₂₁ = A₂₁B₁₁ + A₂₂B₂₁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C₂₂ = A₂₁B₁₂ + A₂₂B₂₂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8 half-size multiplications  →  still n³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1B2A49"/>
                </a:solidFill>
                <a:latin typeface="Calibri"/>
              </a:rPr>
              <a:t>Additions are cheap (n² work). Multiplications are what recurse.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Idea 2: seven products instead of eight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2 - How it works</a:t>
            </a:r>
          </a:p>
        </p:txBody>
      </p:sp>
      <p:pic>
        <p:nvPicPr>
          <p:cNvPr id="5" name="Picture 4" descr="strassen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487" y="1097280"/>
            <a:ext cx="7488545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6118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Each column M₁…M₇ is one product. Cyp, CC BY-SA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M₁ = (A₁₁ + A₂₂)(B₁₁ + B₂₂)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M₂ = (A₂₁ + A₂₂) B₁₁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M₃ = A₁₁ (B₁₂ − B₂₂)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M₄ = A₂₂ (B₂₁ − B₁₁)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61188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M₅ = (A₁₁ + A₁₂) B₂₂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M₆ = (A₂₁ − A₁₁)(B₁₁ + B₁₂)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1B2A49"/>
                </a:solidFill>
                <a:latin typeface="Calibri"/>
              </a:rPr>
              <a:t>M₇ = (A₁₂ − A₂₂)(B₂₁ + B₂₂)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E05A2B"/>
                </a:solidFill>
                <a:latin typeface="Calibri"/>
              </a:rPr>
              <a:t>C₁₁ = M₁ + M₄ − M₅ + M₇     C₁₂ = M₃ + M₅     C₂₁ = M₂ + M₄     C₂₂ = M₁ − M₂ + M₃ + M₆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55555"/>
                </a:solidFill>
                <a:latin typeface="Calibri"/>
              </a:rPr>
              <a:t>7 multiplications, 18 additions/subtractions of half-size blocks. Trade one expensive multiply for a handful of cheap adds.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Why the complexity is n^log₂7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5 -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E05A2B"/>
                </a:solidFill>
                <a:latin typeface="Calibri"/>
              </a:rPr>
              <a:t>T(n) = 7 · T(n/2) + Θ(n²)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E05A2B"/>
                </a:solidFill>
                <a:latin typeface="Calibri"/>
              </a:rPr>
              <a:t>Master theorem: a = 7, b = 2, n^log₂7 ≈ n^2.807 &gt; n²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E05A2B"/>
                </a:solidFill>
                <a:latin typeface="Calibri"/>
              </a:rPr>
              <a:t>→ the leaves dominate:  T(n) = Θ(n^log₂7) ≈ Θ(n^2.807)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92608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200400"/>
                <a:gridCol w="2743200"/>
                <a:gridCol w="3749039"/>
              </a:tblGrid>
              <a:tr h="45720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 k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Subproblems 7ᵏ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Block size n/2ᵏ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Add. work per level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n²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n/2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7/4 · n²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n/4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(7/4)² · n²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log₂ 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7^log₂n = n^log₂7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(7/4)^log₂n · n² = n^log₂7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555555"/>
                </a:solidFill>
                <a:latin typeface="Calibri"/>
              </a:rPr>
              <a:t>Each level saves 1/8 of the multiplications; across log₂n levels that compounds: (7/8)^log₂n = n^(−0.193). For n = 1024: 7¹⁰ ≈ 2.8 × 10⁸ vs 1024³ ≈ 1.07 × 10⁹.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Classical vs Strassen: multiplications at the leaves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5 - Complexity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383280"/>
                <a:gridCol w="2286000"/>
              </a:tblGrid>
              <a:tr h="640080"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 n³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Strassen 7^log₂n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4,096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2,401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1.7×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16,777,216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5,764,801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2.9×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1,024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1,073,741,824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282,475,249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3.8×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8,192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5.5 × 10¹¹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9.7 × 10¹⁰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4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5.7×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029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Recurrence only counts multiplications at full depth. Real implementations stop early (see the code) and switch to classical multiplication below a threshold.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Constraints and practical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6 -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WHEN IT APPLIES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Needs subtraction: any ring (ints, reals, mod p)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NOT for boolean or min-plus semirings (no subtraction)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Squares of size 2ᵏ; otherwise pad with zeros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Exact over integers; rounding error only matters with floats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PRACTICAL LIMITS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18 extra block additions per level: slower for small n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Extra memory: temporaries, padding up to 4× elements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Cache and vectorised BLAS favour classical code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B2A49"/>
                </a:solidFill>
                <a:latin typeface="Calibri"/>
              </a:rPr>
              <a:t>• Break-even: roughly n ≈ 500-1000+ (Huang et al. 2016 saw ~20% gains at n=512)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Extra research 1: numerical stability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7 - Extras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474720"/>
                <a:gridCol w="4114800"/>
              </a:tblGrid>
              <a:tr h="640080">
                <a:tc>
                  <a:txBody>
                    <a:bodyPr/>
                    <a:lstStyle/>
                    <a:p>
                      <a:pPr>
                        <a:defRPr sz="2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Strassen</a:t>
                      </a:r>
                    </a:p>
                  </a:txBody>
                  <a:tcPr>
                    <a:solidFill>
                      <a:srgbClr val="1B2A4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Error bound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Componentwise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Normwise only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Badly scaled rows/cols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Handled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Can lose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Growth with depth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Constant grows with recursion levels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Theory (Demmel et al. 2007)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Stable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200" b="0">
                          <a:solidFill>
                            <a:srgbClr val="1B2A49"/>
                          </a:solidFill>
                          <a:latin typeface="Calibri"/>
                        </a:defRPr>
                      </a:pPr>
                      <a:r>
                        <a:t>Stable in the normwise sense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Mitigations: stop recursing early (the threshold), and scale rows/columns before multiplying.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Extra research 2: is 7 optimal? What came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7 - Extras</a:t>
            </a:r>
          </a:p>
        </p:txBody>
      </p:sp>
      <p:pic>
        <p:nvPicPr>
          <p:cNvPr id="5" name="Picture 4" descr="omega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16252"/>
            <a:ext cx="5852160" cy="3374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436107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Exponent ω over time. J. Burghardt, CC BY-SA 4.0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37160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0">
                <a:solidFill>
                  <a:srgbClr val="1B2A49"/>
                </a:solidFill>
                <a:latin typeface="Calibri"/>
              </a:rPr>
              <a:t>• Hopcroft &amp; Kerr (1971), Winograd (1971): 7 is optimal for 2×2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1B2A49"/>
                </a:solidFill>
                <a:latin typeface="Calibri"/>
              </a:rPr>
              <a:t>• Winograd's variant: 15 additions instead of 18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1B2A49"/>
                </a:solidFill>
                <a:latin typeface="Calibri"/>
              </a:rPr>
              <a:t>• AlphaTensor (DeepMind, 2022): 47 multiplications for 4×4 over GF(2) vs 49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1B2A49"/>
                </a:solidFill>
                <a:latin typeface="Calibri"/>
              </a:rPr>
              <a:t>• Best known exponent today: ω &lt; 2.371339 (Alman et al., 2024)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1B2A49"/>
                </a:solidFill>
                <a:latin typeface="Calibri"/>
              </a:rPr>
              <a:t>• Those record algorithms are galactic - never used in practice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0" y="6446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Segment 7 - Outro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VIDEOS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ByteQuest, 'Strassen Algorithm Visually Explained' - youtube.com/watch?v=2IgZuVGwEb0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Sagar Choudhary, 'Strassen's Matrix Multiplication | Faster Matrix Multiplication Explained with Example' - youtube.com/watch?v=cGmfchtOJi4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ARTICLES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Wikipedia, 'Strassen algorithm' - en.wikipedia.org/wiki/Strassen_algorithm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Wikipedia, 'Computational complexity of matrix multiplication' - en.wikipedia.org/wiki/Computational_complexity_of_matrix_multiplication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GeeksforGeeks, 'Matrix Multiplication / Strassen's' - geeksforgeeks.org/strassens-matrix-multiplication/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RESEARCH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Strassen (1969), Numerische Mathematik 13:354-356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Demmel, Dumitriu, Holtz, Kleinberg, 'Fast matrix multiplication is stable' - arxiv.org/abs/math/0603207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Fawzi et al., AlphaTensor, Nature 610 (2022) - nature.com/articles/s41586-022-05172-4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• Alman et al., 'More Asymmetry Yields Faster Matrix Multiplication' - arxiv.org/abs/2404.16349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2A49"/>
                </a:solidFill>
                <a:latin typeface="Calibri"/>
              </a:rPr>
              <a:t>IMAGES: Wikimedia Commons (CC BY-SA 3.0/4.0, CC0) - see slide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